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A261"/>
    <a:srgbClr val="2D9C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114" y="11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준 김" userId="b20754cbc14a82f2" providerId="LiveId" clId="{C728D56C-7F08-4EC5-9826-DA49692DF3D9}"/>
    <pc:docChg chg="undo custSel modSld">
      <pc:chgData name="성준 김" userId="b20754cbc14a82f2" providerId="LiveId" clId="{C728D56C-7F08-4EC5-9826-DA49692DF3D9}" dt="2026-03-25T17:00:49.988" v="6" actId="1076"/>
      <pc:docMkLst>
        <pc:docMk/>
      </pc:docMkLst>
      <pc:sldChg chg="modSp mod">
        <pc:chgData name="성준 김" userId="b20754cbc14a82f2" providerId="LiveId" clId="{C728D56C-7F08-4EC5-9826-DA49692DF3D9}" dt="2026-03-25T17:00:49.988" v="6" actId="1076"/>
        <pc:sldMkLst>
          <pc:docMk/>
          <pc:sldMk cId="0" sldId="263"/>
        </pc:sldMkLst>
        <pc:spChg chg="mod">
          <ac:chgData name="성준 김" userId="b20754cbc14a82f2" providerId="LiveId" clId="{C728D56C-7F08-4EC5-9826-DA49692DF3D9}" dt="2026-03-25T17:00:43.534" v="4" actId="1076"/>
          <ac:spMkLst>
            <pc:docMk/>
            <pc:sldMk cId="0" sldId="263"/>
            <ac:spMk id="7" creationId="{00000000-0000-0000-0000-000000000000}"/>
          </ac:spMkLst>
        </pc:spChg>
        <pc:spChg chg="mod">
          <ac:chgData name="성준 김" userId="b20754cbc14a82f2" providerId="LiveId" clId="{C728D56C-7F08-4EC5-9826-DA49692DF3D9}" dt="2026-03-25T17:00:47.128" v="5" actId="1076"/>
          <ac:spMkLst>
            <pc:docMk/>
            <pc:sldMk cId="0" sldId="263"/>
            <ac:spMk id="17" creationId="{00000000-0000-0000-0000-000000000000}"/>
          </ac:spMkLst>
        </pc:spChg>
        <pc:spChg chg="mod">
          <ac:chgData name="성준 김" userId="b20754cbc14a82f2" providerId="LiveId" clId="{C728D56C-7F08-4EC5-9826-DA49692DF3D9}" dt="2026-03-25T17:00:47.128" v="5" actId="1076"/>
          <ac:spMkLst>
            <pc:docMk/>
            <pc:sldMk cId="0" sldId="263"/>
            <ac:spMk id="18" creationId="{00000000-0000-0000-0000-000000000000}"/>
          </ac:spMkLst>
        </pc:spChg>
        <pc:spChg chg="mod">
          <ac:chgData name="성준 김" userId="b20754cbc14a82f2" providerId="LiveId" clId="{C728D56C-7F08-4EC5-9826-DA49692DF3D9}" dt="2026-03-25T17:00:49.988" v="6" actId="1076"/>
          <ac:spMkLst>
            <pc:docMk/>
            <pc:sldMk cId="0" sldId="263"/>
            <ac:spMk id="19" creationId="{00000000-0000-0000-0000-000000000000}"/>
          </ac:spMkLst>
        </pc:spChg>
        <pc:spChg chg="mod">
          <ac:chgData name="성준 김" userId="b20754cbc14a82f2" providerId="LiveId" clId="{C728D56C-7F08-4EC5-9826-DA49692DF3D9}" dt="2026-03-25T17:00:49.988" v="6" actId="1076"/>
          <ac:spMkLst>
            <pc:docMk/>
            <pc:sldMk cId="0" sldId="263"/>
            <ac:spMk id="2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2852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1A6EBF">
              <a:alpha val="12000"/>
            </a:srgbClr>
          </a:solidFill>
          <a:ln w="12700">
            <a:solidFill>
              <a:srgbClr val="1A6EB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64592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TRACK 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보험의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재설계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502920" y="2697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9D1D9"/>
                </a:solidFill>
              </a:rPr>
              <a:t>GA 중심 보험 유통 구조, AI로 바꿀 수 있을까?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02920" y="3200400"/>
            <a:ext cx="320040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2920" y="3383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D1D9"/>
                </a:solidFill>
              </a:rPr>
              <a:t>CREAI+IT  </a:t>
            </a:r>
            <a:r>
              <a:rPr lang="en-US" sz="1200" dirty="0">
                <a:solidFill>
                  <a:srgbClr val="8B949E"/>
                </a:solidFill>
              </a:rPr>
              <a:t>연세대학교 인공지능 창업 학회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7307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</a:rPr>
              <a:t>1차 발표 (RA)  ·  2026.03.26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오늘 발표 구성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</a:rPr>
              <a:t>8~10분  ·  자유형식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84048" y="1371600"/>
            <a:ext cx="1965960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84048" y="1371600"/>
            <a:ext cx="1965960" cy="54864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84048" cy="384048"/>
          </a:xfrm>
          <a:prstGeom prst="ellipse">
            <a:avLst/>
          </a:prstGeom>
          <a:solidFill>
            <a:srgbClr val="2D9CDB">
              <a:alpha val="25000"/>
            </a:srgbClr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9CDB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8408" y="157276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CDB"/>
                </a:solidFill>
              </a:rPr>
              <a:t>도입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78408" y="180136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1분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121408"/>
            <a:ext cx="1636776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21208" y="2273300"/>
            <a:ext cx="17584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</a:rPr>
              <a:t>한국 보험 유통 구조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" y="283464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설계사 중심 </a:t>
            </a:r>
            <a:r>
              <a:rPr lang="en-US" sz="1100" dirty="0" err="1">
                <a:solidFill>
                  <a:schemeClr val="bg1"/>
                </a:solidFill>
              </a:rPr>
              <a:t>영업이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</a:p>
          <a:p>
            <a:pPr marL="0" indent="0" algn="ctr">
              <a:buNone/>
            </a:pPr>
            <a:r>
              <a:rPr lang="en-US" sz="1100" dirty="0" err="1">
                <a:solidFill>
                  <a:schemeClr val="bg1"/>
                </a:solidFill>
              </a:rPr>
              <a:t>만들어낸</a:t>
            </a:r>
            <a:r>
              <a:rPr lang="en-US" sz="1100" dirty="0">
                <a:solidFill>
                  <a:schemeClr val="bg1"/>
                </a:solidFill>
              </a:rPr>
              <a:t> 구조적 문제</a:t>
            </a:r>
          </a:p>
        </p:txBody>
      </p:sp>
      <p:sp>
        <p:nvSpPr>
          <p:cNvPr id="13" name="Shape 11"/>
          <p:cNvSpPr/>
          <p:nvPr/>
        </p:nvSpPr>
        <p:spPr>
          <a:xfrm>
            <a:off x="2505456" y="1371600"/>
            <a:ext cx="1965960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2505456" y="1371600"/>
            <a:ext cx="1965960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670048" y="1554480"/>
            <a:ext cx="384048" cy="384048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670048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99816" y="157276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파트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99816" y="180136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4분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70048" y="2121408"/>
            <a:ext cx="1636776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642616" y="2286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6FC"/>
                </a:solidFill>
              </a:rPr>
              <a:t>핵심 문제 정의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642616" y="283464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chemeClr val="bg1"/>
                </a:solidFill>
              </a:rPr>
              <a:t>정보비대칭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→ </a:t>
            </a:r>
            <a:r>
              <a:rPr lang="en-US" sz="1100" dirty="0" err="1">
                <a:solidFill>
                  <a:schemeClr val="bg1"/>
                </a:solidFill>
              </a:rPr>
              <a:t>트레이드오프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→ Personalization</a:t>
            </a:r>
          </a:p>
        </p:txBody>
      </p:sp>
      <p:sp>
        <p:nvSpPr>
          <p:cNvPr id="22" name="Shape 20"/>
          <p:cNvSpPr/>
          <p:nvPr/>
        </p:nvSpPr>
        <p:spPr>
          <a:xfrm>
            <a:off x="4626864" y="1371600"/>
            <a:ext cx="1965960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626864" y="1371600"/>
            <a:ext cx="1965960" cy="548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791456" y="1554480"/>
            <a:ext cx="384048" cy="384048"/>
          </a:xfrm>
          <a:prstGeom prst="ellipse">
            <a:avLst/>
          </a:prstGeom>
          <a:solidFill>
            <a:srgbClr val="F4A261">
              <a:alpha val="25000"/>
            </a:srgbClr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791456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61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21224" y="157276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</a:rPr>
              <a:t>파트 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21224" y="180136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3분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91456" y="2121408"/>
            <a:ext cx="1636776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764024" y="2286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6FC"/>
                </a:solidFill>
              </a:rPr>
              <a:t>보험사 설득 논리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64024" y="283464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비용 절감 + 리스크 제거 = B2B 가치</a:t>
            </a:r>
          </a:p>
        </p:txBody>
      </p:sp>
      <p:sp>
        <p:nvSpPr>
          <p:cNvPr id="31" name="Shape 29"/>
          <p:cNvSpPr/>
          <p:nvPr/>
        </p:nvSpPr>
        <p:spPr>
          <a:xfrm>
            <a:off x="6748272" y="1371600"/>
            <a:ext cx="1965960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6748272" y="1371600"/>
            <a:ext cx="1965960" cy="5486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6912864" y="1554480"/>
            <a:ext cx="384048" cy="384048"/>
          </a:xfrm>
          <a:prstGeom prst="ellipse">
            <a:avLst/>
          </a:prstGeom>
          <a:solidFill>
            <a:srgbClr val="8B949E">
              <a:alpha val="25000"/>
            </a:srgbClr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912864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949E"/>
                </a:solidFill>
              </a:rPr>
              <a:t>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342632" y="157276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49E"/>
                </a:solidFill>
              </a:rPr>
              <a:t>파트 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42632" y="180136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1분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912864" y="2121408"/>
            <a:ext cx="1636776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885432" y="228600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6FC"/>
                </a:solidFill>
              </a:rPr>
              <a:t>열린 질문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85432" y="283464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chemeClr val="bg1"/>
                </a:solidFill>
              </a:rPr>
              <a:t>아직</a:t>
            </a:r>
            <a:r>
              <a:rPr lang="en-US" sz="1100" dirty="0">
                <a:solidFill>
                  <a:schemeClr val="bg1"/>
                </a:solidFill>
              </a:rPr>
              <a:t> 답</a:t>
            </a:r>
            <a:r>
              <a:rPr lang="ko-KR" altLang="en-US" sz="1100" dirty="0">
                <a:solidFill>
                  <a:schemeClr val="bg1"/>
                </a:solidFill>
              </a:rPr>
              <a:t>을</a:t>
            </a:r>
            <a:r>
              <a:rPr lang="en-US" sz="1100" dirty="0">
                <a:solidFill>
                  <a:schemeClr val="bg1"/>
                </a:solidFill>
              </a:rPr>
              <a:t> 못 </a:t>
            </a:r>
            <a:r>
              <a:rPr lang="en-US" sz="1100" dirty="0" err="1">
                <a:solidFill>
                  <a:schemeClr val="bg1"/>
                </a:solidFill>
              </a:rPr>
              <a:t>찾은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것들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9CDB"/>
                </a:solidFill>
              </a:rPr>
              <a:t>도입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한국 보험 유통 구조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68958"/>
            <a:ext cx="2377440" cy="1188720"/>
          </a:xfrm>
          <a:prstGeom prst="rect">
            <a:avLst/>
          </a:prstGeom>
          <a:solidFill>
            <a:srgbClr val="161B22"/>
          </a:solidFill>
          <a:ln w="25400">
            <a:solidFill>
              <a:srgbClr val="1A6EB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568958"/>
            <a:ext cx="2377440" cy="64008"/>
          </a:xfrm>
          <a:prstGeom prst="rect">
            <a:avLst/>
          </a:prstGeom>
          <a:solidFill>
            <a:srgbClr val="1A6EBF"/>
          </a:solidFill>
          <a:ln w="12700">
            <a:solidFill>
              <a:srgbClr val="1A6E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82397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F6FC"/>
                </a:solidFill>
              </a:rPr>
              <a:t>보험사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23545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상품 개발·인가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568958"/>
            <a:ext cx="2377440" cy="1188720"/>
          </a:xfrm>
          <a:prstGeom prst="rect">
            <a:avLst/>
          </a:prstGeom>
          <a:solidFill>
            <a:srgbClr val="161B22"/>
          </a:solidFill>
          <a:ln w="25400">
            <a:solidFill>
              <a:srgbClr val="E0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383280" y="1568958"/>
            <a:ext cx="2377440" cy="6400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383280" y="182397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F6FC"/>
                </a:solidFill>
              </a:rPr>
              <a:t>GA / </a:t>
            </a:r>
            <a:r>
              <a:rPr lang="en-US" sz="1600" b="1" dirty="0" err="1">
                <a:solidFill>
                  <a:srgbClr val="F0F6FC"/>
                </a:solidFill>
              </a:rPr>
              <a:t>설계사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223545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판매·모집·설계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568958"/>
            <a:ext cx="2377440" cy="1188720"/>
          </a:xfrm>
          <a:prstGeom prst="rect">
            <a:avLst/>
          </a:prstGeom>
          <a:solidFill>
            <a:srgbClr val="161B22"/>
          </a:solidFill>
          <a:ln w="25400">
            <a:solidFill>
              <a:srgbClr val="8B949E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217920" y="1568958"/>
            <a:ext cx="2377440" cy="64008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217920" y="187096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F6FC"/>
                </a:solidFill>
              </a:rPr>
              <a:t>보험 가입자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223545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정보 부족·의존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16936" y="198043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0363D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737860" y="198043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0363D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024757" y="1252474"/>
            <a:ext cx="1094486" cy="246888"/>
          </a:xfrm>
          <a:prstGeom prst="rect">
            <a:avLst/>
          </a:prstGeom>
          <a:solidFill>
            <a:srgbClr val="E05252">
              <a:alpha val="20000"/>
            </a:srgbClr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558667" y="1283208"/>
            <a:ext cx="19933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</a:rPr>
              <a:t>⚠  문제 구간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032252"/>
            <a:ext cx="8229600" cy="658114"/>
          </a:xfrm>
          <a:prstGeom prst="rect">
            <a:avLst/>
          </a:prstGeom>
          <a:solidFill>
            <a:srgbClr val="1C2333"/>
          </a:solidFill>
          <a:ln w="12700">
            <a:solidFill>
              <a:srgbClr val="2D9CD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57200" y="296799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2D9CDB"/>
                </a:solidFill>
              </a:rPr>
              <a:t>가입률</a:t>
            </a:r>
            <a:r>
              <a:rPr lang="en-US" sz="1600" b="1" dirty="0">
                <a:solidFill>
                  <a:srgbClr val="2D9CDB"/>
                </a:solidFill>
              </a:rPr>
              <a:t> </a:t>
            </a:r>
            <a:r>
              <a:rPr lang="en-US" sz="1600" b="1" dirty="0" err="1">
                <a:solidFill>
                  <a:srgbClr val="2D9CDB"/>
                </a:solidFill>
              </a:rPr>
              <a:t>세계</a:t>
            </a:r>
            <a:r>
              <a:rPr lang="en-US" sz="1600" b="1" dirty="0">
                <a:solidFill>
                  <a:srgbClr val="2D9CDB"/>
                </a:solidFill>
              </a:rPr>
              <a:t> 7~8위</a:t>
            </a:r>
            <a:r>
              <a:rPr lang="en-US" sz="1600" dirty="0">
                <a:solidFill>
                  <a:srgbClr val="C9D1D9"/>
                </a:solidFill>
              </a:rPr>
              <a:t>  · </a:t>
            </a:r>
            <a:r>
              <a:rPr lang="en-US" sz="1600" b="1" dirty="0" err="1">
                <a:solidFill>
                  <a:srgbClr val="2D9CDB"/>
                </a:solidFill>
              </a:rPr>
              <a:t>이해도는</a:t>
            </a:r>
            <a:r>
              <a:rPr lang="en-US" sz="1600" b="1" dirty="0">
                <a:solidFill>
                  <a:srgbClr val="2D9CDB"/>
                </a:solidFill>
              </a:rPr>
              <a:t> </a:t>
            </a:r>
            <a:r>
              <a:rPr lang="en-US" sz="1600" b="1" dirty="0" err="1">
                <a:solidFill>
                  <a:srgbClr val="2D9CDB"/>
                </a:solidFill>
              </a:rPr>
              <a:t>낮음</a:t>
            </a:r>
            <a:r>
              <a:rPr lang="en-US" sz="1600" b="1" dirty="0">
                <a:solidFill>
                  <a:srgbClr val="2D9CDB"/>
                </a:solidFill>
              </a:rPr>
              <a:t>  </a:t>
            </a:r>
            <a:r>
              <a:rPr lang="en-US" sz="1600" b="1" dirty="0">
                <a:solidFill>
                  <a:srgbClr val="C9D1D9"/>
                </a:solidFill>
              </a:rPr>
              <a:t>-&gt;</a:t>
            </a:r>
            <a:r>
              <a:rPr lang="en-US" sz="1600" dirty="0">
                <a:solidFill>
                  <a:srgbClr val="C9D1D9"/>
                </a:solidFill>
              </a:rPr>
              <a:t>  </a:t>
            </a:r>
            <a:r>
              <a:rPr lang="en-US" sz="1600" b="1" dirty="0" err="1">
                <a:solidFill>
                  <a:srgbClr val="C9D1D9"/>
                </a:solidFill>
              </a:rPr>
              <a:t>이게</a:t>
            </a:r>
            <a:r>
              <a:rPr lang="en-US" sz="1600" b="1" dirty="0">
                <a:solidFill>
                  <a:srgbClr val="C9D1D9"/>
                </a:solidFill>
              </a:rPr>
              <a:t> </a:t>
            </a:r>
            <a:r>
              <a:rPr lang="en-US" sz="1600" b="1" dirty="0" err="1">
                <a:solidFill>
                  <a:srgbClr val="C9D1D9"/>
                </a:solidFill>
              </a:rPr>
              <a:t>가능했던</a:t>
            </a:r>
            <a:r>
              <a:rPr lang="en-US" sz="1600" b="1" dirty="0">
                <a:solidFill>
                  <a:srgbClr val="C9D1D9"/>
                </a:solidFill>
              </a:rPr>
              <a:t> </a:t>
            </a:r>
            <a:r>
              <a:rPr lang="en-US" sz="1600" b="1" dirty="0" err="1">
                <a:solidFill>
                  <a:srgbClr val="C9D1D9"/>
                </a:solidFill>
              </a:rPr>
              <a:t>이유</a:t>
            </a:r>
            <a:r>
              <a:rPr lang="en-US" sz="1600" b="1" dirty="0">
                <a:solidFill>
                  <a:srgbClr val="C9D1D9"/>
                </a:solidFill>
              </a:rPr>
              <a:t> </a:t>
            </a:r>
            <a:r>
              <a:rPr lang="en-US" sz="1600" dirty="0">
                <a:solidFill>
                  <a:srgbClr val="C9D1D9"/>
                </a:solidFill>
              </a:rPr>
              <a:t>=  </a:t>
            </a:r>
            <a:r>
              <a:rPr lang="en-US" sz="1600" b="1" dirty="0" err="1">
                <a:solidFill>
                  <a:srgbClr val="00B4D8"/>
                </a:solidFill>
              </a:rPr>
              <a:t>설계사</a:t>
            </a:r>
            <a:r>
              <a:rPr lang="en-US" sz="1600" b="1" dirty="0">
                <a:solidFill>
                  <a:srgbClr val="00B4D8"/>
                </a:solidFill>
              </a:rPr>
              <a:t> </a:t>
            </a:r>
            <a:r>
              <a:rPr lang="en-US" sz="1600" b="1" dirty="0" err="1">
                <a:solidFill>
                  <a:srgbClr val="00B4D8"/>
                </a:solidFill>
              </a:rPr>
              <a:t>중심</a:t>
            </a:r>
            <a:r>
              <a:rPr lang="en-US" sz="1600" b="1" dirty="0">
                <a:solidFill>
                  <a:srgbClr val="00B4D8"/>
                </a:solidFill>
              </a:rPr>
              <a:t> </a:t>
            </a:r>
            <a:r>
              <a:rPr lang="en-US" sz="1600" b="1" dirty="0" err="1">
                <a:solidFill>
                  <a:srgbClr val="00B4D8"/>
                </a:solidFill>
              </a:rPr>
              <a:t>영업</a:t>
            </a:r>
            <a:r>
              <a:rPr lang="en-US" sz="1600" b="1" dirty="0">
                <a:solidFill>
                  <a:srgbClr val="00B4D8"/>
                </a:solidFill>
              </a:rPr>
              <a:t> </a:t>
            </a:r>
            <a:r>
              <a:rPr lang="en-US" sz="1600" b="1" dirty="0" err="1">
                <a:solidFill>
                  <a:srgbClr val="00B4D8"/>
                </a:solidFill>
              </a:rPr>
              <a:t>구조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2960" y="3882390"/>
            <a:ext cx="21945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22960" y="403428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200+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22960" y="447319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약관 평균 페이지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0" y="3882390"/>
            <a:ext cx="21945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474720" y="403428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7~14일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474720" y="447319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가입 완료까지 소요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3882390"/>
            <a:ext cx="21945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126480" y="403428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수만 건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126480" y="447319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불완전판매 (매년)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9CDB"/>
                </a:solidFill>
              </a:rPr>
              <a:t>도입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업계가 이미 잡고 있는 문제 3가지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260604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E0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2606040" cy="6400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0000"/>
                </a:solidFill>
              </a:rPr>
              <a:t>⚠</a:t>
            </a:r>
          </a:p>
        </p:txBody>
      </p:sp>
      <p:sp>
        <p:nvSpPr>
          <p:cNvPr id="8" name="Text 6"/>
          <p:cNvSpPr/>
          <p:nvPr/>
        </p:nvSpPr>
        <p:spPr>
          <a:xfrm>
            <a:off x="502920" y="190195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6FC"/>
                </a:solidFill>
              </a:rPr>
              <a:t>정보 비대칭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2286000"/>
            <a:ext cx="205740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약관 평균 200+ 페이지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고객은 '뭘 모르는지도 모르는' 상태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전적으로 설계사 설명에 의존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325880"/>
            <a:ext cx="260604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337560" y="1325880"/>
            <a:ext cx="260604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337560" y="14173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37560" y="190195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6FC"/>
                </a:solidFill>
              </a:rPr>
              <a:t>이해충돌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11880" y="2286000"/>
            <a:ext cx="205740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474720" y="237744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불완전판매 매년 수만 건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수수료 기반 추천 구조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고객 최적이 아닌 판매자 최적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1325880"/>
            <a:ext cx="260604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2D9CD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172200" y="1325880"/>
            <a:ext cx="2606040" cy="64008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172200" y="14173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172200" y="190195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6FC"/>
                </a:solidFill>
              </a:rPr>
              <a:t>고객 여정 복잡성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46520" y="2286000"/>
            <a:ext cx="205740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309360" y="237744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가입 완료까지 7~14일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9단계 복잡한 프로세스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고객은 </a:t>
            </a:r>
            <a:r>
              <a:rPr lang="en-US" sz="1100" dirty="0" err="1">
                <a:solidFill>
                  <a:srgbClr val="8B949E"/>
                </a:solidFill>
              </a:rPr>
              <a:t>수동적</a:t>
            </a:r>
            <a:r>
              <a:rPr lang="en-US" sz="1100" dirty="0">
                <a:solidFill>
                  <a:srgbClr val="8B949E"/>
                </a:solidFill>
              </a:rPr>
              <a:t> </a:t>
            </a:r>
            <a:r>
              <a:rPr lang="en-US" sz="1100" dirty="0" err="1">
                <a:solidFill>
                  <a:srgbClr val="8B949E"/>
                </a:solidFill>
              </a:rPr>
              <a:t>위치에</a:t>
            </a:r>
            <a:r>
              <a:rPr lang="en-US" sz="1100" dirty="0">
                <a:solidFill>
                  <a:srgbClr val="8B949E"/>
                </a:solidFill>
              </a:rPr>
              <a:t> </a:t>
            </a:r>
            <a:r>
              <a:rPr lang="ko-KR" altLang="en-US" sz="1100" dirty="0">
                <a:solidFill>
                  <a:srgbClr val="8B949E"/>
                </a:solidFill>
              </a:rPr>
              <a:t>놓임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794760"/>
            <a:ext cx="8138160" cy="868680"/>
          </a:xfrm>
          <a:prstGeom prst="rect">
            <a:avLst/>
          </a:prstGeom>
          <a:solidFill>
            <a:srgbClr val="0E2954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02920" y="3794760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bg1">
                    <a:lumMod val="95000"/>
                  </a:schemeClr>
                </a:solidFill>
              </a:rPr>
              <a:t>그런데 — </a:t>
            </a:r>
            <a:r>
              <a:rPr lang="en-US" sz="1600" b="1" dirty="0">
                <a:solidFill>
                  <a:srgbClr val="00B4D8"/>
                </a:solidFill>
              </a:rPr>
              <a:t>기존 문제 프레임 너머의 구조적 문제는 없을까?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파트 1 — 문제 정의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우리가 </a:t>
            </a:r>
            <a:r>
              <a:rPr lang="en-US" sz="3200" b="1" dirty="0" err="1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직접</a:t>
            </a:r>
            <a:r>
              <a:rPr lang="en-US" sz="32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ko-KR" altLang="en-US" sz="32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경험해</a:t>
            </a:r>
            <a:r>
              <a:rPr lang="en-US" sz="3200" b="1" dirty="0" err="1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봤다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</a:rPr>
              <a:t>세 명이 각각 다른 채널로 보험 가입을 처음부터 끝까지 경험했다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2606040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417320" y="1691640"/>
            <a:ext cx="777240" cy="77724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417320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85800" y="2606040"/>
            <a:ext cx="224028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27432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채널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3017520"/>
            <a:ext cx="2240280" cy="4572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85800" y="301752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</a:rPr>
              <a:t>은하설계소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264408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</a:rPr>
              <a:t>AI 챗봇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566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채널 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3840480"/>
            <a:ext cx="2240280" cy="4572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85800" y="384048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</a:rPr>
              <a:t>카카오페이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4087368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A261"/>
                </a:solidFill>
              </a:rPr>
              <a:t>디지털 가입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37560" y="1600200"/>
            <a:ext cx="2606040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251960" y="1691640"/>
            <a:ext cx="777240" cy="77724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251960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M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520440" y="2606040"/>
            <a:ext cx="224028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520440" y="27432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채널 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20440" y="3017520"/>
            <a:ext cx="2240280" cy="4572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520440" y="301752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</a:rPr>
              <a:t>은하설계소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20440" y="3264408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</a:rPr>
              <a:t>AI 챗봇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20440" y="3566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채널 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520440" y="3840480"/>
            <a:ext cx="2240280" cy="4572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3520440" y="384048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</a:rPr>
              <a:t>삼성화재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20440" y="4087368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A261"/>
                </a:solidFill>
              </a:rPr>
              <a:t>전화 상담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72200" y="1600200"/>
            <a:ext cx="2606040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7086600" y="1691640"/>
            <a:ext cx="777240" cy="77724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7086600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K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6355080" y="2606040"/>
            <a:ext cx="224028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355080" y="27432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채널 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55080" y="3017520"/>
            <a:ext cx="2240280" cy="4572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355080" y="301752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</a:rPr>
              <a:t>은하설계소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55080" y="3264408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</a:rPr>
              <a:t>AI 챗봇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55080" y="3566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채널 2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55080" y="3840480"/>
            <a:ext cx="2240280" cy="4572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6355080" y="384048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</a:rPr>
              <a:t>KB손해보험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55080" y="4087368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A261"/>
                </a:solidFill>
              </a:rPr>
              <a:t>보험사 직접 문의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파트 1 — 문제 정의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채널은 달랐는데, 같은 벽에 부딪혔다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2606040" cy="2331720"/>
          </a:xfrm>
          <a:prstGeom prst="rect">
            <a:avLst/>
          </a:prstGeom>
          <a:solidFill>
            <a:srgbClr val="161B22"/>
          </a:solidFill>
          <a:ln w="19050">
            <a:solidFill>
              <a:srgbClr val="2D9CD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2606040" cy="64008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44475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</a:rPr>
              <a:t>은하설계소 (AI 챗봇)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233172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57860" y="2344928"/>
            <a:ext cx="2331720" cy="728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C9D1D9"/>
                </a:solidFill>
              </a:rPr>
              <a:t>"</a:t>
            </a:r>
            <a:r>
              <a:rPr lang="en-US" sz="1200" i="1" dirty="0" err="1">
                <a:solidFill>
                  <a:srgbClr val="C9D1D9"/>
                </a:solidFill>
              </a:rPr>
              <a:t>옵션</a:t>
            </a:r>
            <a:r>
              <a:rPr lang="ko-KR" altLang="en-US" sz="1200" i="1" dirty="0">
                <a:solidFill>
                  <a:srgbClr val="C9D1D9"/>
                </a:solidFill>
              </a:rPr>
              <a:t>을</a:t>
            </a:r>
            <a:r>
              <a:rPr lang="en-US" sz="1200" i="1" dirty="0">
                <a:solidFill>
                  <a:srgbClr val="C9D1D9"/>
                </a:solidFill>
              </a:rPr>
              <a:t> 나열해주는데 뭘 골라야 할지 모르겠음. 추천 3개 받아도 와닿지 않음. 결국 설계사 연결 버튼으로 유도."</a:t>
            </a:r>
            <a:endParaRPr lang="en-US" sz="1200" i="1" dirty="0"/>
          </a:p>
        </p:txBody>
      </p:sp>
      <p:sp>
        <p:nvSpPr>
          <p:cNvPr id="10" name="Shape 8"/>
          <p:cNvSpPr/>
          <p:nvPr/>
        </p:nvSpPr>
        <p:spPr>
          <a:xfrm>
            <a:off x="3337560" y="1325880"/>
            <a:ext cx="2606040" cy="2331720"/>
          </a:xfrm>
          <a:prstGeom prst="rect">
            <a:avLst/>
          </a:prstGeom>
          <a:solidFill>
            <a:srgbClr val="161B22"/>
          </a:solidFill>
          <a:ln w="1905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337560" y="1325880"/>
            <a:ext cx="260604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474720" y="144475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</a:rPr>
              <a:t>삼성화재 (전화)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0" y="1874520"/>
            <a:ext cx="233172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492500" y="2344928"/>
            <a:ext cx="2331720" cy="728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C9D1D9"/>
                </a:solidFill>
              </a:rPr>
              <a:t>"정보가 우다다 쏟아지는데 정리가 안 됨. 내 선택권이 적고 자율성 낮음. 기준이 모호."</a:t>
            </a:r>
            <a:endParaRPr lang="en-US" sz="1200" i="1" dirty="0"/>
          </a:p>
        </p:txBody>
      </p:sp>
      <p:sp>
        <p:nvSpPr>
          <p:cNvPr id="15" name="Shape 13"/>
          <p:cNvSpPr/>
          <p:nvPr/>
        </p:nvSpPr>
        <p:spPr>
          <a:xfrm>
            <a:off x="6172200" y="1325880"/>
            <a:ext cx="2606040" cy="2331720"/>
          </a:xfrm>
          <a:prstGeom prst="rect">
            <a:avLst/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172200" y="1325880"/>
            <a:ext cx="2606040" cy="64008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309360" y="144475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</a:rPr>
              <a:t>KB손보 (직접 문의)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1874520"/>
            <a:ext cx="233172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327140" y="2344928"/>
            <a:ext cx="2331720" cy="728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C9D1D9"/>
                </a:solidFill>
              </a:rPr>
              <a:t>"불친절. 링크 보내면서 웹에서 알아서 찾으라 함. 챗봇은 있는데 심심이 수준."</a:t>
            </a:r>
            <a:endParaRPr lang="en-US" sz="1200" i="1" dirty="0"/>
          </a:p>
        </p:txBody>
      </p:sp>
      <p:sp>
        <p:nvSpPr>
          <p:cNvPr id="20" name="Shape 18"/>
          <p:cNvSpPr/>
          <p:nvPr/>
        </p:nvSpPr>
        <p:spPr>
          <a:xfrm>
            <a:off x="502920" y="3822192"/>
            <a:ext cx="8138160" cy="804672"/>
          </a:xfrm>
          <a:prstGeom prst="rect">
            <a:avLst/>
          </a:prstGeom>
          <a:solidFill>
            <a:srgbClr val="1C2333"/>
          </a:solidFill>
          <a:ln w="19050">
            <a:solidFill>
              <a:srgbClr val="E0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02920" y="4017772"/>
            <a:ext cx="8138160" cy="446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B949E"/>
                </a:solidFill>
              </a:rPr>
              <a:t>공통점:  </a:t>
            </a:r>
            <a:r>
              <a:rPr lang="en-US" sz="1500" b="1" dirty="0">
                <a:solidFill>
                  <a:srgbClr val="F0F6FC"/>
                </a:solidFill>
              </a:rPr>
              <a:t>정보가 부족하거나, 반대로 너무 많거나</a:t>
            </a:r>
            <a:r>
              <a:rPr lang="en-US" sz="1500" dirty="0">
                <a:solidFill>
                  <a:srgbClr val="8B949E"/>
                </a:solidFill>
              </a:rPr>
              <a:t>  →  표면적 문제 =  </a:t>
            </a:r>
            <a:r>
              <a:rPr lang="en-US" b="1" dirty="0">
                <a:solidFill>
                  <a:srgbClr val="E05252"/>
                </a:solidFill>
              </a:rPr>
              <a:t>"정보 비대칭"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파트 1 — 핵심 전환점 ★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진짜</a:t>
            </a:r>
            <a:r>
              <a:rPr lang="en-US" sz="28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문제는 그게 아니었다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7612"/>
            <a:ext cx="3840480" cy="1417320"/>
          </a:xfrm>
          <a:prstGeom prst="rect">
            <a:avLst/>
          </a:prstGeom>
          <a:solidFill>
            <a:srgbClr val="161B22"/>
          </a:solidFill>
          <a:ln w="19050">
            <a:solidFill>
              <a:srgbClr val="E0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03504" y="1600200"/>
            <a:ext cx="7838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>
                    <a:lumMod val="75000"/>
                  </a:schemeClr>
                </a:solidFill>
              </a:rPr>
              <a:t>기존 가설</a:t>
            </a:r>
            <a:endParaRPr lang="en-US" sz="11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</a:rPr>
              <a:t>정보 비대칭이 문제 → 정보를 더 주면 해결된다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" y="2125980"/>
            <a:ext cx="5641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E05252"/>
                </a:solidFill>
              </a:rPr>
              <a:t>반례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4368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은하설계소는 정보를 충분히 줬는데도 '와닿지 않는다'는 반응</a:t>
            </a:r>
          </a:p>
        </p:txBody>
      </p:sp>
      <p:sp>
        <p:nvSpPr>
          <p:cNvPr id="10" name="Text 8"/>
          <p:cNvSpPr/>
          <p:nvPr/>
        </p:nvSpPr>
        <p:spPr>
          <a:xfrm>
            <a:off x="4343400" y="19248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846320" y="1467612"/>
            <a:ext cx="3840480" cy="1417320"/>
          </a:xfrm>
          <a:prstGeom prst="rect">
            <a:avLst/>
          </a:prstGeom>
          <a:solidFill>
            <a:srgbClr val="161B22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983480" y="15590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외부 근거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183337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</a:rPr>
              <a:t>보험연구원: 소비자 3명 중 2명은 공시 정보를 확인하지 않음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22631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→ 정보가 있어도 소비자가 소화를 못 한다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451860"/>
            <a:ext cx="8229600" cy="914400"/>
          </a:xfrm>
          <a:prstGeom prst="rect">
            <a:avLst/>
          </a:prstGeom>
          <a:solidFill>
            <a:srgbClr val="0E2954"/>
          </a:solidFill>
          <a:ln w="254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57200" y="34518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C9D1D9"/>
                </a:solidFill>
              </a:rPr>
              <a:t>진짜 문제는 </a:t>
            </a:r>
            <a:r>
              <a:rPr lang="en-US" sz="1700" b="1" dirty="0">
                <a:solidFill>
                  <a:srgbClr val="F4A261"/>
                </a:solidFill>
              </a:rPr>
              <a:t>"디테일하고 명확한 정보 전달"</a:t>
            </a:r>
            <a:r>
              <a:rPr lang="en-US" sz="1700" dirty="0">
                <a:solidFill>
                  <a:srgbClr val="F4A261"/>
                </a:solidFill>
              </a:rPr>
              <a:t> </a:t>
            </a:r>
            <a:r>
              <a:rPr lang="en-US" sz="1700" dirty="0">
                <a:solidFill>
                  <a:srgbClr val="C9D1D9"/>
                </a:solidFill>
              </a:rPr>
              <a:t>과 </a:t>
            </a:r>
            <a:r>
              <a:rPr lang="en-US" sz="1700" b="1" dirty="0">
                <a:solidFill>
                  <a:srgbClr val="F4A261"/>
                </a:solidFill>
              </a:rPr>
              <a:t>"인지 부하"</a:t>
            </a:r>
            <a:r>
              <a:rPr lang="en-US" sz="1700" dirty="0">
                <a:solidFill>
                  <a:srgbClr val="C9D1D9"/>
                </a:solidFill>
              </a:rPr>
              <a:t> 의 트레이드오프다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</a:rPr>
              <a:t>출처: 보험연구원, 보험 소비자보호 지표 활용 관련 조사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파트 1 — 트레이드오프 재정의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기존 서비스는 전부 한쪽에 치우쳐 있었다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457200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2286000" cy="1737360"/>
          </a:xfrm>
          <a:prstGeom prst="rect">
            <a:avLst/>
          </a:prstGeom>
          <a:solidFill>
            <a:srgbClr val="E05252">
              <a:alpha val="8000"/>
            </a:srgbClr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017520" y="1234440"/>
            <a:ext cx="2286000" cy="1737360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31520" y="2971800"/>
            <a:ext cx="2286000" cy="1737360"/>
          </a:xfrm>
          <a:prstGeom prst="rect">
            <a:avLst/>
          </a:prstGeom>
          <a:solidFill>
            <a:srgbClr val="8B949E">
              <a:alpha val="8000"/>
            </a:srgbClr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017520" y="2971800"/>
            <a:ext cx="2286000" cy="1737360"/>
          </a:xfrm>
          <a:prstGeom prst="rect">
            <a:avLst/>
          </a:prstGeom>
          <a:solidFill>
            <a:srgbClr val="27AE60">
              <a:alpha val="12000"/>
            </a:srgbClr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315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← 정보 디테일/명확성 →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325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</a:rPr>
              <a:t>▲ 인지부하 높음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4048" y="42519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</a:rPr>
              <a:t>▼ 낮음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296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낮음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8056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높음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78992" y="3410712"/>
            <a:ext cx="219456" cy="21945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31520" y="3657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KB손보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11322" y="2382012"/>
            <a:ext cx="219456" cy="21945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2863850" y="26289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A261"/>
                </a:solidFill>
              </a:rPr>
              <a:t>은하설계소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30752" y="1951482"/>
            <a:ext cx="219456" cy="21945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383280" y="219837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A261"/>
                </a:solidFill>
              </a:rPr>
              <a:t>삼성화재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66160" y="3520440"/>
            <a:ext cx="320040" cy="320040"/>
          </a:xfrm>
          <a:prstGeom prst="ellipse">
            <a:avLst/>
          </a:prstGeom>
          <a:solidFill>
            <a:srgbClr val="FFFFFF">
              <a:alpha val="40000"/>
            </a:srgbClr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200400" y="3886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여기가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비어있다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0" y="1234440"/>
            <a:ext cx="301752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80644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</a:rPr>
              <a:t>사분면 해석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06440" y="1828800"/>
            <a:ext cx="128016" cy="12801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989320" y="180136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</a:rPr>
              <a:t>정보 부족 + 인지부하 낮음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89320" y="205740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KB손보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06440" y="2697480"/>
            <a:ext cx="128016" cy="12801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989320" y="267004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</a:rPr>
              <a:t>정보 충분 + 인지부하 높음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89320" y="292608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</a:rPr>
              <a:t>은하설계소, 삼성화재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806440" y="3566160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989320" y="353872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</a:rPr>
              <a:t>정보 충분 + 인지부하 낮음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89320" y="379476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</a:rPr>
              <a:t>← 여기가 목표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파트 1 — 해법 방향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트레이드오프를 깨는 열쇠: Personalization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3200400"/>
          </a:xfrm>
          <a:prstGeom prst="rect">
            <a:avLst/>
          </a:prstGeom>
          <a:solidFill>
            <a:srgbClr val="161B22"/>
          </a:solidFill>
          <a:ln w="25400">
            <a:solidFill>
              <a:srgbClr val="E0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6400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17042" y="1476756"/>
            <a:ext cx="640080" cy="25603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17042" y="147675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기존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" y="17830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6FC"/>
                </a:solidFill>
              </a:rPr>
              <a:t>모든 고객에게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0F6FC"/>
                </a:solidFill>
              </a:rPr>
              <a:t>같은 정보를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" y="2542032"/>
            <a:ext cx="356616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21792" y="261518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</a:rPr>
              <a:t>동일한 정보량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" y="29992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</a:rPr>
              <a:t>동일한 순서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" y="33832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</a:rPr>
              <a:t>동일한 깊이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" y="39410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5252"/>
                </a:solidFill>
              </a:rPr>
              <a:t>→ 트레이드오프 발생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46320" y="1280160"/>
            <a:ext cx="3931920" cy="3200400"/>
          </a:xfrm>
          <a:prstGeom prst="rect">
            <a:avLst/>
          </a:prstGeom>
          <a:solidFill>
            <a:srgbClr val="161B22"/>
          </a:solidFill>
          <a:ln w="254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846320" y="1280160"/>
            <a:ext cx="393192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106162" y="1476756"/>
            <a:ext cx="640080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106162" y="147675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우리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10912" y="17830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6FC"/>
                </a:solidFill>
              </a:rPr>
              <a:t>이 사람에게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0F6FC"/>
                </a:solidFill>
              </a:rPr>
              <a:t>지금 필요한 정보를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010912" y="2542032"/>
            <a:ext cx="356616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010912" y="261518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</a:rPr>
              <a:t>적절한 깊이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10912" y="29992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</a:rPr>
              <a:t>적절한 순서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10912" y="33832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</a:rPr>
              <a:t>맞는 타이밍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10912" y="39410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AE60"/>
                </a:solidFill>
              </a:rPr>
              <a:t>→ 정보 질 유지 + 인지 부하 감소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solidFill>
            <a:srgbClr val="1C2333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261"/>
                </a:solidFill>
              </a:rPr>
              <a:t>법적 제약 — </a:t>
            </a:r>
            <a:r>
              <a:rPr lang="en-US" sz="1200" dirty="0">
                <a:solidFill>
                  <a:srgbClr val="8B949E"/>
                </a:solidFill>
              </a:rPr>
              <a:t>"이걸 가입하세요"는 불가. 단,</a:t>
            </a:r>
            <a:r>
              <a:rPr lang="en-US" sz="1200" b="1" dirty="0">
                <a:solidFill>
                  <a:srgbClr val="F0F6FC"/>
                </a:solidFill>
              </a:rPr>
              <a:t> 고객이 스스로 납득하며 결정 직전까지 도달하는 경험</a:t>
            </a:r>
            <a:r>
              <a:rPr lang="en-US" sz="1200" dirty="0">
                <a:solidFill>
                  <a:srgbClr val="8B949E"/>
                </a:solidFill>
              </a:rPr>
              <a:t>은 가능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파트 2 — 보험사 설득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비용 절감 — 지금 나가는 돈을 줄인다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3977640" cy="1463040"/>
          </a:xfrm>
          <a:prstGeom prst="rect">
            <a:avLst/>
          </a:prstGeom>
          <a:solidFill>
            <a:srgbClr val="161B22"/>
          </a:solidFill>
          <a:ln w="254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39.8조원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6FC"/>
                </a:solidFill>
              </a:rPr>
              <a:t>보험업권 전체 사업비 (2023)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전년 대비 +14%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325880"/>
            <a:ext cx="3977640" cy="1463040"/>
          </a:xfrm>
          <a:prstGeom prst="rect">
            <a:avLst/>
          </a:prstGeom>
          <a:solidFill>
            <a:srgbClr val="161B22"/>
          </a:solidFill>
          <a:ln w="25400">
            <a:solidFill>
              <a:srgbClr val="E0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800600" y="141732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0525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74%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800600" y="21031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6FC"/>
                </a:solidFill>
              </a:rPr>
              <a:t>증가분 중 GA 선지급 수수료 비중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24231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금감원 발표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3977640" cy="65836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67512" y="30774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GA 설계사 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14600" y="318211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4A261"/>
                </a:solidFill>
              </a:rPr>
              <a:t>30만+명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" y="33223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사상 최초 30만 돌파 (2025.4)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00600" y="2971800"/>
            <a:ext cx="3977640" cy="65836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965192" y="30774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생보 설계사 정착률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12280" y="318211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4A261"/>
                </a:solidFill>
              </a:rPr>
              <a:t>36.9%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06340" y="332841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2명 뽑아야 1명 남는 구조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02920" y="3749040"/>
            <a:ext cx="3977640" cy="65836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67512" y="38547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1인당 정착 비용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14600" y="395935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4A261"/>
                </a:solidFill>
              </a:rPr>
              <a:t>~3,000만원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4652" y="409981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업계 추정치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800600" y="3749040"/>
            <a:ext cx="3977640" cy="65836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965192" y="38547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GA 채널 월납보험료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12280" y="395935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4A261"/>
                </a:solidFill>
              </a:rPr>
              <a:t>1조 640억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65192" y="412165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최초 1조 돌파 (2024)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49E"/>
                </a:solidFill>
              </a:rPr>
              <a:t>출처: 금감원 / 뉴시스 2025.1.11 / 보험연구원(KIRI) / 금감원 2025.4 / </a:t>
            </a:r>
            <a:r>
              <a:rPr lang="en-US" sz="800" dirty="0" err="1">
                <a:solidFill>
                  <a:srgbClr val="8B949E"/>
                </a:solidFill>
              </a:rPr>
              <a:t>보험GA협회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파트 2 — 보험사 설득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리스크 제거 — 터지면 큰 돈 나가는 걸 막는다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3977640" cy="1463040"/>
          </a:xfrm>
          <a:prstGeom prst="rect">
            <a:avLst/>
          </a:prstGeom>
          <a:solidFill>
            <a:srgbClr val="161B22"/>
          </a:solidFill>
          <a:ln w="25400">
            <a:solidFill>
              <a:srgbClr val="E0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0525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5.2배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6FC"/>
                </a:solidFill>
              </a:rPr>
              <a:t>불완전판매 제재 건수 증가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9건(2020) → 47건(2024)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325880"/>
            <a:ext cx="3977640" cy="1463040"/>
          </a:xfrm>
          <a:prstGeom prst="rect">
            <a:avLst/>
          </a:prstGeom>
          <a:solidFill>
            <a:srgbClr val="161B22"/>
          </a:solidFill>
          <a:ln w="254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800600" y="141732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89.3%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800600" y="21031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6FC"/>
                </a:solidFill>
              </a:rPr>
              <a:t>소비자의 수수료 편향 인식률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24231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보험연구원 2025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3977640" cy="65836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67512" y="30632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과징금·과태료 합계 (2024)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67228" y="317296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05252"/>
                </a:solidFill>
              </a:rPr>
              <a:t>439.2억원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" y="331927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전년 대비 2.9배 (CEO스코어)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00600" y="2971800"/>
            <a:ext cx="3977640" cy="65836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965192" y="30632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수수료 공개 필요성 동의율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69480" y="317296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05252"/>
                </a:solidFill>
              </a:rPr>
              <a:t>82.0%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65192" y="331927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보험연구원 2025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02920" y="3749040"/>
            <a:ext cx="3977640" cy="65836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67512" y="38404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불완전판매 환급 이자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76372" y="393192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05252"/>
                </a:solidFill>
              </a:rPr>
              <a:t>연 6%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" y="409651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기납입보험료 전액 + 상사법정이자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800600" y="3749040"/>
            <a:ext cx="3977640" cy="65836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965192" y="38404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삼성생명 제재 합계 (2024)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0" y="395020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05252"/>
                </a:solidFill>
              </a:rPr>
              <a:t>~24억원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965192" y="409651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단일 보험사 기준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49E"/>
                </a:solidFill>
              </a:rPr>
              <a:t>출처: 이투데이/금감원 / CEO스코어데일리 2025.4.9 / 보험연구원 CEO Report 2025.09 / 상법 제54조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파트 2 — 보험사 설득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예상 반론과 우리의 대답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8404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E0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4864" cy="100584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252"/>
                </a:solidFill>
              </a:rPr>
              <a:t>반론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6002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D1D9"/>
                </a:solidFill>
              </a:rPr>
              <a:t>"AI가 복잡한 보험 상품을 제대로 설명할 수 있냐?"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43400" y="1645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846320" y="1325880"/>
            <a:ext cx="38404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846320" y="1325880"/>
            <a:ext cx="54864" cy="10058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983480" y="1371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</a:rPr>
              <a:t>반박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83480" y="16002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</a:rPr>
              <a:t>전체 설명이 아니라 personalization으로 이 사람에게 필요한 정보만 적절한 깊이로. 오히려 설계사보다 일관성 있는 설명 가능.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38404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E0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54864" cy="100584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94360" y="2560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252"/>
                </a:solidFill>
              </a:rPr>
              <a:t>반론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27889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D1D9"/>
                </a:solidFill>
              </a:rPr>
              <a:t>"설계사 일자리를 빼앗는 것 아닌가?"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43400" y="2834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846320" y="2514600"/>
            <a:ext cx="38404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846320" y="2514600"/>
            <a:ext cx="54864" cy="10058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983480" y="2560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</a:rPr>
              <a:t>반박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83480" y="27889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</a:rPr>
              <a:t>디지털 전용 보험사 5곳 전부 적자 → 대면 영업 완전 대체가 아님. 온라인 전용 상품부터 적용, 채널 충돌 없이 도입 가능.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703320"/>
            <a:ext cx="38404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E0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57200" y="3703320"/>
            <a:ext cx="54864" cy="100584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94360" y="3749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252"/>
                </a:solidFill>
              </a:rPr>
              <a:t>반론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39776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D1D9"/>
                </a:solidFill>
              </a:rPr>
              <a:t>"보험업법상 AI가 모집행위를 할 수 있나?"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43400" y="4023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846320" y="3703320"/>
            <a:ext cx="38404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4846320" y="3703320"/>
            <a:ext cx="54864" cy="10058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983480" y="3749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</a:rPr>
              <a:t>반박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83480" y="39776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</a:rPr>
              <a:t>우리 서비스는 '결정'이 아닌 '결정 직전까지의 정보 제공'. 가입 자체는 보험사 Final Call로 이관.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49E"/>
                </a:solidFill>
              </a:rPr>
              <a:t>파트 3 — 열린 질문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아직 답을 못 찾은 것들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i="1" dirty="0">
                <a:solidFill>
                  <a:srgbClr val="8B949E"/>
                </a:solidFill>
              </a:rPr>
              <a:t>앞으로 우리가 </a:t>
            </a:r>
            <a:r>
              <a:rPr lang="en-US" sz="1300" i="1" dirty="0" err="1">
                <a:solidFill>
                  <a:srgbClr val="8B949E"/>
                </a:solidFill>
              </a:rPr>
              <a:t>풀어</a:t>
            </a:r>
            <a:r>
              <a:rPr lang="ko-KR" altLang="en-US" sz="1300" i="1" dirty="0" err="1">
                <a:solidFill>
                  <a:srgbClr val="8B949E"/>
                </a:solidFill>
              </a:rPr>
              <a:t>가야할</a:t>
            </a:r>
            <a:r>
              <a:rPr lang="en-US" sz="1300" i="1" dirty="0">
                <a:solidFill>
                  <a:srgbClr val="8B949E"/>
                </a:solidFill>
              </a:rPr>
              <a:t> </a:t>
            </a:r>
            <a:r>
              <a:rPr lang="en-US" sz="1300" i="1" dirty="0" err="1">
                <a:solidFill>
                  <a:srgbClr val="8B949E"/>
                </a:solidFill>
              </a:rPr>
              <a:t>질문들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02336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94360" y="1865376"/>
            <a:ext cx="411480" cy="41148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94360" y="18653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1905000"/>
            <a:ext cx="3264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</a:rPr>
              <a:t>Personalization 구현 방식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대화형 챗봇 vs 구조화된 UI(카카오페이처럼) vs 하이브리드?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783080"/>
            <a:ext cx="402336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937760" y="1865376"/>
            <a:ext cx="411480" cy="41148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937760" y="18653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22392" y="1911604"/>
            <a:ext cx="3264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</a:rPr>
              <a:t>법적 경계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3317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AI Agent의 '추천'은 어디까지 가능한가? 보험업법상 모집행위와 정보 제공의 경계는?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402336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94360" y="3236976"/>
            <a:ext cx="411480" cy="41148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94360" y="32369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" y="3292348"/>
            <a:ext cx="3264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</a:rPr>
              <a:t>데이터 연동 가능성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3703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보험사 내부 상품 데이터를 실시간으로 가져오는 기술적·사업적 가능성은?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3154680"/>
            <a:ext cx="402336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937760" y="3236976"/>
            <a:ext cx="411480" cy="41148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937760" y="32369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22392" y="3278124"/>
            <a:ext cx="3264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</a:rPr>
              <a:t>고객 신뢰 문제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3703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AI에 대한 신뢰가 낮은 상황에서 어떻게 진입장벽을 낮출 것인가?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286000"/>
            <a:ext cx="5029200" cy="5029200"/>
          </a:xfrm>
          <a:prstGeom prst="ellipse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1A6EBF">
              <a:alpha val="10000"/>
            </a:srgbClr>
          </a:solidFill>
          <a:ln w="12700">
            <a:solidFill>
              <a:srgbClr val="1A6EB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017520" y="1097280"/>
            <a:ext cx="31089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371600" y="146304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C9D1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GA가 독점하던 보험 설계 과정,
</a:t>
            </a:r>
            <a:r>
              <a:rPr lang="en-US" sz="26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AI로 바꿀 수 있다.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30175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B949E"/>
                </a:solidFill>
              </a:rPr>
              <a:t>정보 비대칭이 아니라 트레이드오프 문제.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i="1" dirty="0">
                <a:solidFill>
                  <a:srgbClr val="8B949E"/>
                </a:solidFill>
              </a:rPr>
              <a:t>Personalization이 그 답이다.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017520" y="3931920"/>
            <a:ext cx="3108960" cy="6400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371600" y="4160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</a:rPr>
              <a:t>CREAI+IT  ·  연세대학교 인공지능 창업 학회  ·  Track 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1017</Words>
  <Application>Microsoft Office PowerPoint</Application>
  <PresentationFormat>화면 슬라이드 쇼(16:9)</PresentationFormat>
  <Paragraphs>240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Arial</vt:lpstr>
      <vt:lpstr>Arial Black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보험의 재설계 - Track B 1차 발표</dc:title>
  <dc:subject>PptxGenJS Presentation</dc:subject>
  <dc:creator>PptxGenJS</dc:creator>
  <cp:lastModifiedBy>성준 김</cp:lastModifiedBy>
  <cp:revision>2</cp:revision>
  <dcterms:created xsi:type="dcterms:W3CDTF">2026-03-25T16:03:17Z</dcterms:created>
  <dcterms:modified xsi:type="dcterms:W3CDTF">2026-03-25T17:01:00Z</dcterms:modified>
</cp:coreProperties>
</file>